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4" r:id="rId16"/>
    <p:sldId id="275" r:id="rId17"/>
  </p:sldIdLst>
  <p:sldSz cx="18288000" cy="10287000"/>
  <p:notesSz cx="6858000" cy="9144000"/>
  <p:embeddedFontLst>
    <p:embeddedFont>
      <p:font typeface="Cooper Hewitt" panose="020B0604020202020204" charset="0"/>
      <p:regular r:id="rId18"/>
    </p:embeddedFont>
    <p:embeddedFont>
      <p:font typeface="Cooper Hewitt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656"/>
    <a:srgbClr val="4E6DFC"/>
    <a:srgbClr val="FFDF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7F90B1-8E86-A899-0CE9-D3D7752DC5A6}" v="132" dt="2025-11-24T04:19:49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19" Type="http://schemas.openxmlformats.org/officeDocument/2006/relationships/image" Target="../media/image31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52200" y="-4299758"/>
            <a:ext cx="27677038" cy="18886516"/>
            <a:chOff x="0" y="0"/>
            <a:chExt cx="36902718" cy="2518202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4305160"/>
              <a:ext cx="13994934" cy="15706337"/>
              <a:chOff x="0" y="0"/>
              <a:chExt cx="2764431" cy="310248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764431" cy="3102486"/>
              </a:xfrm>
              <a:custGeom>
                <a:avLst/>
                <a:gdLst/>
                <a:ahLst/>
                <a:cxnLst/>
                <a:rect l="l" t="t" r="r" b="b"/>
                <a:pathLst>
                  <a:path w="2764431" h="3102486">
                    <a:moveTo>
                      <a:pt x="0" y="0"/>
                    </a:moveTo>
                    <a:lnTo>
                      <a:pt x="2764431" y="0"/>
                    </a:lnTo>
                    <a:lnTo>
                      <a:pt x="2764431" y="3102486"/>
                    </a:lnTo>
                    <a:lnTo>
                      <a:pt x="0" y="3102486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764431" cy="31405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19663341" y="3242286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7" y="0"/>
                  </a:lnTo>
                  <a:lnTo>
                    <a:pt x="17239377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3174534" y="0"/>
              <a:ext cx="21640800" cy="25182022"/>
              <a:chOff x="0" y="0"/>
              <a:chExt cx="6985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9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028700" y="1437146"/>
            <a:ext cx="16230600" cy="8117554"/>
            <a:chOff x="0" y="0"/>
            <a:chExt cx="21640800" cy="1082340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523875"/>
              <a:ext cx="21640800" cy="6619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0"/>
                </a:lnSpc>
              </a:pPr>
              <a:r>
                <a:rPr lang="en-US" sz="30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BEELDER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12880" y="4822021"/>
              <a:ext cx="10820400" cy="6001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5879"/>
                </a:lnSpc>
              </a:pPr>
              <a:r>
                <a:rPr lang="en-US" sz="4199" spc="83">
                  <a:solidFill>
                    <a:srgbClr val="FFFFFF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Davi Takedi Souza Brunelli</a:t>
              </a:r>
            </a:p>
            <a:p>
              <a:pPr algn="r">
                <a:lnSpc>
                  <a:spcPts val="5879"/>
                </a:lnSpc>
              </a:pPr>
              <a:r>
                <a:rPr lang="en-US" sz="4199" spc="83">
                  <a:solidFill>
                    <a:srgbClr val="FFFFFF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João Pedro da Silva Germano</a:t>
              </a:r>
            </a:p>
            <a:p>
              <a:pPr algn="r">
                <a:lnSpc>
                  <a:spcPts val="5879"/>
                </a:lnSpc>
              </a:pPr>
              <a:r>
                <a:rPr lang="en-US" sz="4199" spc="83">
                  <a:solidFill>
                    <a:srgbClr val="FFFFFF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João Victor de Oliveira Rissi</a:t>
              </a:r>
            </a:p>
            <a:p>
              <a:pPr algn="r">
                <a:lnSpc>
                  <a:spcPts val="5879"/>
                </a:lnSpc>
              </a:pPr>
              <a:r>
                <a:rPr lang="en-US" sz="4199" spc="83">
                  <a:solidFill>
                    <a:srgbClr val="FFFFFF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Natan de Oliveira</a:t>
              </a:r>
            </a:p>
            <a:p>
              <a:pPr algn="r">
                <a:lnSpc>
                  <a:spcPts val="5879"/>
                </a:lnSpc>
              </a:pPr>
              <a:r>
                <a:rPr lang="en-US" sz="4199" spc="83">
                  <a:solidFill>
                    <a:srgbClr val="FFFFFF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Nicholas Luperi de Lima</a:t>
              </a:r>
            </a:p>
            <a:p>
              <a:pPr algn="r">
                <a:lnSpc>
                  <a:spcPts val="5879"/>
                </a:lnSpc>
              </a:pPr>
              <a:endParaRPr lang="en-US" sz="4199" spc="83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3546" y="4860121"/>
              <a:ext cx="10593716" cy="5141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9503"/>
                </a:lnSpc>
              </a:pPr>
              <a:r>
                <a:rPr lang="en-US" sz="8799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PLATAFORMA DE CRIAÇÃO DE CURRÍCULOS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82407" y="-2167528"/>
            <a:ext cx="24645506" cy="14622056"/>
            <a:chOff x="0" y="0"/>
            <a:chExt cx="32860675" cy="19496075"/>
          </a:xfrm>
        </p:grpSpPr>
        <p:grpSp>
          <p:nvGrpSpPr>
            <p:cNvPr id="3" name="Group 3"/>
            <p:cNvGrpSpPr/>
            <p:nvPr/>
          </p:nvGrpSpPr>
          <p:grpSpPr>
            <a:xfrm>
              <a:off x="13176794" y="13022605"/>
              <a:ext cx="6749518" cy="5057458"/>
              <a:chOff x="0" y="0"/>
              <a:chExt cx="1333238" cy="99900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333238" cy="999004"/>
              </a:xfrm>
              <a:custGeom>
                <a:avLst/>
                <a:gdLst/>
                <a:ahLst/>
                <a:cxnLst/>
                <a:rect l="l" t="t" r="r" b="b"/>
                <a:pathLst>
                  <a:path w="1333238" h="999004">
                    <a:moveTo>
                      <a:pt x="0" y="0"/>
                    </a:moveTo>
                    <a:lnTo>
                      <a:pt x="1333238" y="0"/>
                    </a:lnTo>
                    <a:lnTo>
                      <a:pt x="1333238" y="999004"/>
                    </a:lnTo>
                    <a:lnTo>
                      <a:pt x="0" y="999004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04775"/>
                <a:ext cx="1333238" cy="11037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0" y="1243766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7" y="0"/>
                  </a:lnTo>
                  <a:lnTo>
                    <a:pt x="17239377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356676" y="1580373"/>
              <a:ext cx="27088037" cy="11859989"/>
              <a:chOff x="0" y="0"/>
              <a:chExt cx="5350723" cy="234271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350723" cy="2342714"/>
              </a:xfrm>
              <a:custGeom>
                <a:avLst/>
                <a:gdLst/>
                <a:ahLst/>
                <a:cxnLst/>
                <a:rect l="l" t="t" r="r" b="b"/>
                <a:pathLst>
                  <a:path w="5350723" h="2342714">
                    <a:moveTo>
                      <a:pt x="0" y="0"/>
                    </a:moveTo>
                    <a:lnTo>
                      <a:pt x="5350723" y="0"/>
                    </a:lnTo>
                    <a:lnTo>
                      <a:pt x="5350723" y="2342714"/>
                    </a:lnTo>
                    <a:lnTo>
                      <a:pt x="0" y="234271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04775"/>
                <a:ext cx="5350723" cy="24474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9101876" y="0"/>
              <a:ext cx="13758799" cy="19496075"/>
              <a:chOff x="0" y="0"/>
              <a:chExt cx="2717787" cy="38510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717787" cy="3851077"/>
              </a:xfrm>
              <a:custGeom>
                <a:avLst/>
                <a:gdLst/>
                <a:ahLst/>
                <a:cxnLst/>
                <a:rect l="l" t="t" r="r" b="b"/>
                <a:pathLst>
                  <a:path w="2717787" h="3851077">
                    <a:moveTo>
                      <a:pt x="0" y="0"/>
                    </a:moveTo>
                    <a:lnTo>
                      <a:pt x="2717787" y="0"/>
                    </a:lnTo>
                    <a:lnTo>
                      <a:pt x="2717787" y="3851077"/>
                    </a:lnTo>
                    <a:lnTo>
                      <a:pt x="0" y="385107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04775"/>
                <a:ext cx="2717787" cy="39558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9"/>
                  </a:lnSpc>
                </a:pPr>
                <a:endParaRPr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0" y="-266700"/>
            <a:ext cx="9400378" cy="245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840"/>
              </a:lnSpc>
            </a:pPr>
            <a:r>
              <a:rPr lang="en-US" sz="144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PROBLEMA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3375" y="1764410"/>
            <a:ext cx="8733628" cy="583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559"/>
              </a:lnSpc>
              <a:spcBef>
                <a:spcPct val="0"/>
              </a:spcBef>
            </a:pPr>
            <a:r>
              <a:rPr lang="en-US" sz="5399" b="1" spc="431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Jovens sem experiência têm dificuldade de entrar no mercado: falta de experiência, alta concorrência e insegurança.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737" y="-301796"/>
            <a:ext cx="10310854" cy="10711094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823940" y="-7375"/>
            <a:ext cx="6402447" cy="59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en-US" sz="36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Taxa de desemprego</a:t>
            </a:r>
          </a:p>
        </p:txBody>
      </p:sp>
      <p:sp>
        <p:nvSpPr>
          <p:cNvPr id="17" name="AutoShape 17"/>
          <p:cNvSpPr/>
          <p:nvPr/>
        </p:nvSpPr>
        <p:spPr>
          <a:xfrm flipH="1">
            <a:off x="3938189" y="9495972"/>
            <a:ext cx="762000" cy="0"/>
          </a:xfrm>
          <a:prstGeom prst="line">
            <a:avLst/>
          </a:prstGeom>
          <a:ln w="38100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8" name="TextBox 18"/>
          <p:cNvSpPr txBox="1"/>
          <p:nvPr/>
        </p:nvSpPr>
        <p:spPr>
          <a:xfrm>
            <a:off x="7927516" y="9688830"/>
            <a:ext cx="6402447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en-US" sz="3600" b="1" dirty="0">
                <a:solidFill>
                  <a:srgbClr val="4E6DFC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18-29 </a:t>
            </a:r>
            <a:r>
              <a:rPr lang="en-US" sz="3600" b="1" err="1">
                <a:solidFill>
                  <a:srgbClr val="4E6DFC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anos</a:t>
            </a:r>
            <a:endParaRPr lang="en-US" sz="3600" b="1">
              <a:solidFill>
                <a:srgbClr val="4E6DFC"/>
              </a:solidFill>
              <a:latin typeface="Cooper Hewitt Bold"/>
              <a:ea typeface="Cooper Hewitt Bold"/>
              <a:cs typeface="Cooper Hewit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128740" y="9688830"/>
            <a:ext cx="6402447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en-US" sz="3600" b="1" dirty="0">
                <a:solidFill>
                  <a:srgbClr val="FF5656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30-59 </a:t>
            </a:r>
            <a:r>
              <a:rPr lang="en-US" sz="3600" b="1" err="1">
                <a:solidFill>
                  <a:srgbClr val="FF5656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anos</a:t>
            </a:r>
            <a:endParaRPr lang="en-US" sz="3600" b="1" err="1">
              <a:solidFill>
                <a:srgbClr val="FF5656"/>
              </a:solidFill>
              <a:latin typeface="Cooper Hewitt Bold"/>
              <a:ea typeface="Cooper Hewitt Bold"/>
              <a:cs typeface="Cooper Hewit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025164" y="9688830"/>
            <a:ext cx="6402447" cy="59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0"/>
              </a:lnSpc>
            </a:pPr>
            <a:r>
              <a:rPr lang="en-US" sz="3600" b="1">
                <a:solidFill>
                  <a:srgbClr val="7ED957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Média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94025" y="0"/>
            <a:ext cx="7331825" cy="10287000"/>
          </a:xfrm>
          <a:custGeom>
            <a:avLst/>
            <a:gdLst/>
            <a:ahLst/>
            <a:cxnLst/>
            <a:rect l="l" t="t" r="r" b="b"/>
            <a:pathLst>
              <a:path w="7331825" h="10287000">
                <a:moveTo>
                  <a:pt x="0" y="0"/>
                </a:moveTo>
                <a:lnTo>
                  <a:pt x="7331825" y="0"/>
                </a:lnTo>
                <a:lnTo>
                  <a:pt x="73318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1790700" y="-1600200"/>
            <a:ext cx="10934700" cy="13487400"/>
            <a:chOff x="0" y="0"/>
            <a:chExt cx="2879921" cy="35522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79921" cy="3552237"/>
            </a:xfrm>
            <a:custGeom>
              <a:avLst/>
              <a:gdLst/>
              <a:ahLst/>
              <a:cxnLst/>
              <a:rect l="l" t="t" r="r" b="b"/>
              <a:pathLst>
                <a:path w="2879921" h="3552237">
                  <a:moveTo>
                    <a:pt x="0" y="0"/>
                  </a:moveTo>
                  <a:lnTo>
                    <a:pt x="2879921" y="0"/>
                  </a:lnTo>
                  <a:lnTo>
                    <a:pt x="2879921" y="3552237"/>
                  </a:lnTo>
                  <a:lnTo>
                    <a:pt x="0" y="35522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2879921" cy="3657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5186" y="122872"/>
            <a:ext cx="8733628" cy="4110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519"/>
              </a:lnSpc>
            </a:pPr>
            <a:r>
              <a:rPr lang="en-US" sz="13199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OBJETIVOS GERAIS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5186" y="3892867"/>
            <a:ext cx="8733628" cy="6004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239"/>
              </a:lnSpc>
              <a:spcBef>
                <a:spcPct val="0"/>
              </a:spcBef>
            </a:pPr>
            <a:r>
              <a:rPr lang="en-US" sz="6599" spc="527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Desenv</a:t>
            </a:r>
            <a:r>
              <a:rPr lang="en-US" sz="6599" b="1" spc="527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olver um site que ajude jovens sem experiência a conseguir o primeiro emprego.</a:t>
            </a:r>
          </a:p>
        </p:txBody>
      </p:sp>
      <p:sp>
        <p:nvSpPr>
          <p:cNvPr id="8" name="Freeform 8"/>
          <p:cNvSpPr/>
          <p:nvPr/>
        </p:nvSpPr>
        <p:spPr>
          <a:xfrm>
            <a:off x="14769167" y="-1144954"/>
            <a:ext cx="12929533" cy="12576909"/>
          </a:xfrm>
          <a:custGeom>
            <a:avLst/>
            <a:gdLst/>
            <a:ahLst/>
            <a:cxnLst/>
            <a:rect l="l" t="t" r="r" b="b"/>
            <a:pathLst>
              <a:path w="12929533" h="12576909">
                <a:moveTo>
                  <a:pt x="0" y="0"/>
                </a:moveTo>
                <a:lnTo>
                  <a:pt x="12929533" y="0"/>
                </a:lnTo>
                <a:lnTo>
                  <a:pt x="12929533" y="12576908"/>
                </a:lnTo>
                <a:lnTo>
                  <a:pt x="0" y="12576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26495" y="60991"/>
            <a:ext cx="7331825" cy="10287000"/>
          </a:xfrm>
          <a:custGeom>
            <a:avLst/>
            <a:gdLst/>
            <a:ahLst/>
            <a:cxnLst/>
            <a:rect l="l" t="t" r="r" b="b"/>
            <a:pathLst>
              <a:path w="7331825" h="10287000">
                <a:moveTo>
                  <a:pt x="0" y="0"/>
                </a:moveTo>
                <a:lnTo>
                  <a:pt x="7331826" y="0"/>
                </a:lnTo>
                <a:lnTo>
                  <a:pt x="73318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72217" y="-1083964"/>
            <a:ext cx="12929533" cy="12576909"/>
          </a:xfrm>
          <a:custGeom>
            <a:avLst/>
            <a:gdLst/>
            <a:ahLst/>
            <a:cxnLst/>
            <a:rect l="l" t="t" r="r" b="b"/>
            <a:pathLst>
              <a:path w="12929533" h="12576909">
                <a:moveTo>
                  <a:pt x="0" y="0"/>
                </a:moveTo>
                <a:lnTo>
                  <a:pt x="12929533" y="0"/>
                </a:lnTo>
                <a:lnTo>
                  <a:pt x="12929533" y="12576909"/>
                </a:lnTo>
                <a:lnTo>
                  <a:pt x="0" y="125769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191500" y="-1600200"/>
            <a:ext cx="10629900" cy="13487400"/>
            <a:chOff x="0" y="0"/>
            <a:chExt cx="2799644" cy="35522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99644" cy="3552237"/>
            </a:xfrm>
            <a:custGeom>
              <a:avLst/>
              <a:gdLst/>
              <a:ahLst/>
              <a:cxnLst/>
              <a:rect l="l" t="t" r="r" b="b"/>
              <a:pathLst>
                <a:path w="2799644" h="3552237">
                  <a:moveTo>
                    <a:pt x="0" y="0"/>
                  </a:moveTo>
                  <a:lnTo>
                    <a:pt x="2799644" y="0"/>
                  </a:lnTo>
                  <a:lnTo>
                    <a:pt x="2799644" y="3552237"/>
                  </a:lnTo>
                  <a:lnTo>
                    <a:pt x="0" y="35522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799644" cy="3657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0" y="-2610"/>
            <a:ext cx="8115300" cy="321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40"/>
              </a:lnSpc>
            </a:pPr>
            <a:r>
              <a:rPr lang="en-US" sz="10400" b="1" u="none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OBJETIVOS ESPECÍFICOS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56460" y="2808605"/>
            <a:ext cx="6093080" cy="175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579"/>
              </a:lnSpc>
            </a:pPr>
            <a:r>
              <a:rPr lang="en-US" sz="4699" b="1" u="none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Modelos de currículo editáveis e fáceis.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7351712"/>
            <a:ext cx="6093080" cy="2585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579"/>
              </a:lnSpc>
            </a:pPr>
            <a:r>
              <a:rPr lang="en-US" sz="4699" b="1" u="none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Sugestões de cursos gratuitos para aprender novas habilidades.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56460" y="5080159"/>
            <a:ext cx="6093080" cy="175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579"/>
              </a:lnSpc>
            </a:pPr>
            <a:r>
              <a:rPr lang="en-US" sz="4699" b="1" u="none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Dicas práticas para entrevistas.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937152" y="3027680"/>
            <a:ext cx="1319212" cy="1535084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940088" y="5428047"/>
            <a:ext cx="1319212" cy="1535084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940087" y="7828413"/>
            <a:ext cx="1319212" cy="1535084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16589911" y="3869670"/>
            <a:ext cx="2397" cy="4752108"/>
          </a:xfrm>
          <a:prstGeom prst="line">
            <a:avLst/>
          </a:prstGeom>
          <a:ln w="9525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3813" y="3095908"/>
            <a:ext cx="4762500" cy="694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939"/>
              </a:lnSpc>
            </a:pPr>
            <a:r>
              <a:rPr lang="en-US" sz="5399" b="1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Aumentar a empregabilidade de jovens sem experiência, tornando-os mais competitivos em processos seletivos.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8075" y="3095908"/>
            <a:ext cx="4762500" cy="694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939"/>
              </a:lnSpc>
              <a:spcBef>
                <a:spcPct val="0"/>
              </a:spcBef>
            </a:pPr>
            <a:r>
              <a:rPr lang="en-US" sz="5399" b="1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Reduzir desigualdades de acesso ao mercado por meio de recursos gratuitos (modelos, dicas e cursos).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41687" y="3095908"/>
            <a:ext cx="4762500" cy="619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939"/>
              </a:lnSpc>
              <a:spcBef>
                <a:spcPct val="0"/>
              </a:spcBef>
            </a:pPr>
            <a:r>
              <a:rPr lang="en-US" sz="5399" b="1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Fortalecer a autoconfiança e preparo profissional, elevando a taxa de sucesso em primeiras contratações.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93269" y="0"/>
            <a:ext cx="12501461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19"/>
              </a:lnSpc>
            </a:pPr>
            <a:r>
              <a:rPr lang="en-US" sz="96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JUSTIFICATIVA</a:t>
            </a:r>
          </a:p>
        </p:txBody>
      </p:sp>
      <p:sp>
        <p:nvSpPr>
          <p:cNvPr id="6" name="AutoShape 6"/>
          <p:cNvSpPr/>
          <p:nvPr/>
        </p:nvSpPr>
        <p:spPr>
          <a:xfrm>
            <a:off x="4584591" y="2024182"/>
            <a:ext cx="9799539" cy="0"/>
          </a:xfrm>
          <a:prstGeom prst="line">
            <a:avLst/>
          </a:prstGeom>
          <a:ln w="9525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3265063" y="1256457"/>
            <a:ext cx="1319528" cy="1535451"/>
            <a:chOff x="0" y="0"/>
            <a:chExt cx="6985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84236" y="1256457"/>
            <a:ext cx="1319528" cy="1535451"/>
            <a:chOff x="0" y="0"/>
            <a:chExt cx="6985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03409" y="1256457"/>
            <a:ext cx="1319528" cy="1535451"/>
            <a:chOff x="0" y="0"/>
            <a:chExt cx="6985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99410" y="2676778"/>
            <a:ext cx="19582524" cy="1963125"/>
            <a:chOff x="0" y="0"/>
            <a:chExt cx="26110032" cy="2617500"/>
          </a:xfrm>
        </p:grpSpPr>
        <p:sp>
          <p:nvSpPr>
            <p:cNvPr id="3" name="AutoShape 3"/>
            <p:cNvSpPr/>
            <p:nvPr/>
          </p:nvSpPr>
          <p:spPr>
            <a:xfrm>
              <a:off x="2223512" y="1295020"/>
              <a:ext cx="23886428" cy="28800"/>
            </a:xfrm>
            <a:prstGeom prst="line">
              <a:avLst/>
            </a:prstGeom>
            <a:ln w="152400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3512" cy="2587360"/>
              <a:chOff x="0" y="0"/>
              <a:chExt cx="6985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347045" y="30140"/>
              <a:ext cx="2223512" cy="2587360"/>
              <a:chOff x="0" y="0"/>
              <a:chExt cx="6985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566436" y="778500"/>
              <a:ext cx="1090640" cy="1090640"/>
            </a:xfrm>
            <a:custGeom>
              <a:avLst/>
              <a:gdLst/>
              <a:ahLst/>
              <a:cxnLst/>
              <a:rect l="l" t="t" r="r" b="b"/>
              <a:pathLst>
                <a:path w="1090640" h="1090640">
                  <a:moveTo>
                    <a:pt x="0" y="0"/>
                  </a:moveTo>
                  <a:lnTo>
                    <a:pt x="1090640" y="0"/>
                  </a:lnTo>
                  <a:lnTo>
                    <a:pt x="1090640" y="1090640"/>
                  </a:lnTo>
                  <a:lnTo>
                    <a:pt x="0" y="109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2913481" y="748360"/>
              <a:ext cx="1090640" cy="1090640"/>
            </a:xfrm>
            <a:custGeom>
              <a:avLst/>
              <a:gdLst/>
              <a:ahLst/>
              <a:cxnLst/>
              <a:rect l="l" t="t" r="r" b="b"/>
              <a:pathLst>
                <a:path w="1090640" h="1090640">
                  <a:moveTo>
                    <a:pt x="0" y="0"/>
                  </a:moveTo>
                  <a:lnTo>
                    <a:pt x="1090640" y="0"/>
                  </a:lnTo>
                  <a:lnTo>
                    <a:pt x="1090640" y="1090640"/>
                  </a:lnTo>
                  <a:lnTo>
                    <a:pt x="0" y="109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4386434" y="0"/>
            <a:ext cx="9515132" cy="1632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68"/>
              </a:lnSpc>
              <a:spcBef>
                <a:spcPct val="0"/>
              </a:spcBef>
            </a:pPr>
            <a:r>
              <a:rPr lang="en-US" sz="96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METODOLOGIA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819650"/>
            <a:ext cx="6667500" cy="502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59"/>
              </a:lnSpc>
            </a:pPr>
            <a:r>
              <a:rPr lang="en-US" sz="6899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Levantamento de dificuldades dos jovens e revisão bibliográfica.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519" y="1070229"/>
            <a:ext cx="7620000" cy="160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DE59"/>
                </a:solidFill>
                <a:latin typeface="Cooper Hewitt"/>
                <a:ea typeface="Cooper Hewitt"/>
                <a:cs typeface="Cooper Hewitt"/>
                <a:sym typeface="Cooper Hewitt"/>
              </a:rPr>
              <a:t>PESQUISA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9053" y="4819650"/>
            <a:ext cx="6667500" cy="502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659"/>
              </a:lnSpc>
            </a:pPr>
            <a:r>
              <a:rPr lang="en-US" sz="6899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Definição dos requisitos e organização da equipe.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12803" y="1070229"/>
            <a:ext cx="7620000" cy="160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DE59"/>
                </a:solidFill>
                <a:latin typeface="Cooper Hewitt"/>
                <a:ea typeface="Cooper Hewitt"/>
                <a:cs typeface="Cooper Hewitt"/>
                <a:sym typeface="Cooper Hewitt"/>
              </a:rPr>
              <a:t>PLANEJAMENTO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4389390" y="3625438"/>
            <a:ext cx="17914821" cy="21600"/>
          </a:xfrm>
          <a:prstGeom prst="line">
            <a:avLst/>
          </a:prstGeom>
          <a:ln w="1143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2491746" y="2676778"/>
            <a:ext cx="1667634" cy="1940520"/>
            <a:chOff x="0" y="0"/>
            <a:chExt cx="6985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" name="Group 3"/>
          <p:cNvGrpSpPr/>
          <p:nvPr/>
        </p:nvGrpSpPr>
        <p:grpSpPr>
          <a:xfrm>
            <a:off x="3299410" y="2691088"/>
            <a:ext cx="1667634" cy="1940520"/>
            <a:chOff x="0" y="0"/>
            <a:chExt cx="6985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34925"/>
              <a:ext cx="698500" cy="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643275" y="3182120"/>
            <a:ext cx="979905" cy="979905"/>
          </a:xfrm>
          <a:custGeom>
            <a:avLst/>
            <a:gdLst/>
            <a:ahLst/>
            <a:cxnLst/>
            <a:rect l="l" t="t" r="r" b="b"/>
            <a:pathLst>
              <a:path w="979905" h="979905">
                <a:moveTo>
                  <a:pt x="0" y="0"/>
                </a:moveTo>
                <a:lnTo>
                  <a:pt x="979905" y="0"/>
                </a:lnTo>
                <a:lnTo>
                  <a:pt x="979905" y="979905"/>
                </a:lnTo>
                <a:lnTo>
                  <a:pt x="0" y="979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863217" y="3184693"/>
            <a:ext cx="924691" cy="924691"/>
          </a:xfrm>
          <a:custGeom>
            <a:avLst/>
            <a:gdLst/>
            <a:ahLst/>
            <a:cxnLst/>
            <a:rect l="l" t="t" r="r" b="b"/>
            <a:pathLst>
              <a:path w="924691" h="924691">
                <a:moveTo>
                  <a:pt x="0" y="0"/>
                </a:moveTo>
                <a:lnTo>
                  <a:pt x="924691" y="0"/>
                </a:lnTo>
                <a:lnTo>
                  <a:pt x="924691" y="924691"/>
                </a:lnTo>
                <a:lnTo>
                  <a:pt x="0" y="924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381500" y="0"/>
            <a:ext cx="9525000" cy="1632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68"/>
              </a:lnSpc>
              <a:spcBef>
                <a:spcPct val="0"/>
              </a:spcBef>
            </a:pPr>
            <a:r>
              <a:rPr lang="en-US" sz="96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METODOLOGIA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4787" y="1070229"/>
            <a:ext cx="9525000" cy="160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DE59"/>
                </a:solidFill>
                <a:latin typeface="Cooper Hewitt"/>
                <a:ea typeface="Cooper Hewitt"/>
                <a:cs typeface="Cooper Hewitt"/>
                <a:sym typeface="Cooper Hewitt"/>
              </a:rPr>
              <a:t>DESENVOLVIMENTO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63000" y="1070229"/>
            <a:ext cx="9525000" cy="160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DE59"/>
                </a:solidFill>
                <a:latin typeface="Cooper Hewitt"/>
                <a:ea typeface="Cooper Hewitt"/>
                <a:cs typeface="Cooper Hewitt"/>
                <a:sym typeface="Cooper Hewitt"/>
              </a:rPr>
              <a:t>DEPURAÇÃO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9053" y="4845898"/>
            <a:ext cx="6343858" cy="321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20"/>
              </a:lnSpc>
            </a:pPr>
            <a:r>
              <a:rPr lang="en-US" sz="5800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Validação com usuários reais e correções finais.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860208"/>
            <a:ext cx="6343650" cy="4243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Implementação das funcionalidades principais do sistema.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2712" y="1457325"/>
            <a:ext cx="17862576" cy="3144799"/>
            <a:chOff x="0" y="0"/>
            <a:chExt cx="23816769" cy="4193065"/>
          </a:xfrm>
        </p:grpSpPr>
        <p:grpSp>
          <p:nvGrpSpPr>
            <p:cNvPr id="3" name="Group 3"/>
            <p:cNvGrpSpPr/>
            <p:nvPr/>
          </p:nvGrpSpPr>
          <p:grpSpPr>
            <a:xfrm>
              <a:off x="16451387" y="0"/>
              <a:ext cx="3603416" cy="4193065"/>
              <a:chOff x="0" y="0"/>
              <a:chExt cx="6985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17172070" y="1011839"/>
              <a:ext cx="2162049" cy="2162049"/>
            </a:xfrm>
            <a:custGeom>
              <a:avLst/>
              <a:gdLst/>
              <a:ahLst/>
              <a:cxnLst/>
              <a:rect l="l" t="t" r="r" b="b"/>
              <a:pathLst>
                <a:path w="2162049" h="2162049">
                  <a:moveTo>
                    <a:pt x="0" y="0"/>
                  </a:moveTo>
                  <a:lnTo>
                    <a:pt x="2162050" y="0"/>
                  </a:lnTo>
                  <a:lnTo>
                    <a:pt x="2162050" y="2162049"/>
                  </a:lnTo>
                  <a:lnTo>
                    <a:pt x="0" y="21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20213353" y="0"/>
              <a:ext cx="3603416" cy="4193065"/>
              <a:chOff x="0" y="0"/>
              <a:chExt cx="6985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20934036" y="1024122"/>
              <a:ext cx="2162049" cy="2144822"/>
            </a:xfrm>
            <a:custGeom>
              <a:avLst/>
              <a:gdLst/>
              <a:ahLst/>
              <a:cxnLst/>
              <a:rect l="l" t="t" r="r" b="b"/>
              <a:pathLst>
                <a:path w="2162049" h="2144822">
                  <a:moveTo>
                    <a:pt x="0" y="0"/>
                  </a:moveTo>
                  <a:lnTo>
                    <a:pt x="2162049" y="0"/>
                  </a:lnTo>
                  <a:lnTo>
                    <a:pt x="2162049" y="2144822"/>
                  </a:lnTo>
                  <a:lnTo>
                    <a:pt x="0" y="214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689421" y="0"/>
              <a:ext cx="3603416" cy="4193065"/>
              <a:chOff x="0" y="0"/>
              <a:chExt cx="6985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3049763" y="532650"/>
              <a:ext cx="2882732" cy="2882732"/>
            </a:xfrm>
            <a:custGeom>
              <a:avLst/>
              <a:gdLst/>
              <a:ahLst/>
              <a:cxnLst/>
              <a:rect l="l" t="t" r="r" b="b"/>
              <a:pathLst>
                <a:path w="2882732" h="2882732">
                  <a:moveTo>
                    <a:pt x="0" y="0"/>
                  </a:moveTo>
                  <a:lnTo>
                    <a:pt x="2882732" y="0"/>
                  </a:lnTo>
                  <a:lnTo>
                    <a:pt x="2882732" y="2882733"/>
                  </a:lnTo>
                  <a:lnTo>
                    <a:pt x="0" y="2882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5" name="Group 15"/>
            <p:cNvGrpSpPr/>
            <p:nvPr/>
          </p:nvGrpSpPr>
          <p:grpSpPr>
            <a:xfrm>
              <a:off x="8925654" y="0"/>
              <a:ext cx="3603416" cy="4193065"/>
              <a:chOff x="0" y="0"/>
              <a:chExt cx="6985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9285995" y="576718"/>
              <a:ext cx="2882732" cy="2882732"/>
            </a:xfrm>
            <a:custGeom>
              <a:avLst/>
              <a:gdLst/>
              <a:ahLst/>
              <a:cxnLst/>
              <a:rect l="l" t="t" r="r" b="b"/>
              <a:pathLst>
                <a:path w="2882732" h="2882732">
                  <a:moveTo>
                    <a:pt x="0" y="0"/>
                  </a:moveTo>
                  <a:lnTo>
                    <a:pt x="2882733" y="0"/>
                  </a:lnTo>
                  <a:lnTo>
                    <a:pt x="2882733" y="2882733"/>
                  </a:lnTo>
                  <a:lnTo>
                    <a:pt x="0" y="2882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AutoShape 19"/>
            <p:cNvSpPr/>
            <p:nvPr/>
          </p:nvSpPr>
          <p:spPr>
            <a:xfrm>
              <a:off x="4210291" y="2096533"/>
              <a:ext cx="4715363" cy="0"/>
            </a:xfrm>
            <a:prstGeom prst="line">
              <a:avLst/>
            </a:prstGeom>
            <a:ln w="172964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482836"/>
              <a:ext cx="7206831" cy="922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0"/>
                </a:lnSpc>
              </a:pPr>
              <a:r>
                <a:rPr lang="en-US" sz="4050" b="1" err="1">
                  <a:solidFill>
                    <a:srgbClr val="000000"/>
                  </a:solidFill>
                  <a:highlight>
                    <a:srgbClr val="FFDF62"/>
                  </a:highlight>
                  <a:latin typeface="Cooper Hewitt Bold"/>
                  <a:ea typeface="Cooper Hewitt Bold"/>
                  <a:cs typeface="Cooper Hewitt Bold"/>
                  <a:sym typeface="Cooper Hewitt Bold"/>
                </a:rPr>
                <a:t>Desenvolvimento</a:t>
              </a:r>
              <a:endParaRPr lang="en-US" sz="4050" b="1">
                <a:solidFill>
                  <a:srgbClr val="000000"/>
                </a:solidFill>
                <a:highlight>
                  <a:srgbClr val="FFDF62"/>
                </a:highlight>
                <a:latin typeface="Cooper Hewitt Bold"/>
                <a:ea typeface="Cooper Hewitt Bold"/>
                <a:cs typeface="Cooper Hewitt Bol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2712" y="3939590"/>
            <a:ext cx="13629689" cy="3144799"/>
            <a:chOff x="0" y="0"/>
            <a:chExt cx="18172919" cy="4193065"/>
          </a:xfrm>
        </p:grpSpPr>
        <p:grpSp>
          <p:nvGrpSpPr>
            <p:cNvPr id="22" name="Group 22"/>
            <p:cNvGrpSpPr/>
            <p:nvPr/>
          </p:nvGrpSpPr>
          <p:grpSpPr>
            <a:xfrm>
              <a:off x="10820364" y="0"/>
              <a:ext cx="3603416" cy="4193065"/>
              <a:chOff x="0" y="0"/>
              <a:chExt cx="6985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11541047" y="1015508"/>
              <a:ext cx="2162049" cy="2162049"/>
            </a:xfrm>
            <a:custGeom>
              <a:avLst/>
              <a:gdLst/>
              <a:ahLst/>
              <a:cxnLst/>
              <a:rect l="l" t="t" r="r" b="b"/>
              <a:pathLst>
                <a:path w="2162049" h="2162049">
                  <a:moveTo>
                    <a:pt x="0" y="0"/>
                  </a:moveTo>
                  <a:lnTo>
                    <a:pt x="2162050" y="0"/>
                  </a:lnTo>
                  <a:lnTo>
                    <a:pt x="2162050" y="2162049"/>
                  </a:lnTo>
                  <a:lnTo>
                    <a:pt x="0" y="21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4569503" y="0"/>
              <a:ext cx="3603416" cy="4193065"/>
              <a:chOff x="0" y="0"/>
              <a:chExt cx="6985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15290186" y="1015508"/>
              <a:ext cx="2162049" cy="2162049"/>
            </a:xfrm>
            <a:custGeom>
              <a:avLst/>
              <a:gdLst/>
              <a:ahLst/>
              <a:cxnLst/>
              <a:rect l="l" t="t" r="r" b="b"/>
              <a:pathLst>
                <a:path w="2162049" h="2162049">
                  <a:moveTo>
                    <a:pt x="0" y="0"/>
                  </a:moveTo>
                  <a:lnTo>
                    <a:pt x="2162050" y="0"/>
                  </a:lnTo>
                  <a:lnTo>
                    <a:pt x="2162050" y="2162049"/>
                  </a:lnTo>
                  <a:lnTo>
                    <a:pt x="0" y="21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0" name="AutoShape 30"/>
            <p:cNvSpPr/>
            <p:nvPr/>
          </p:nvSpPr>
          <p:spPr>
            <a:xfrm>
              <a:off x="4210291" y="2096533"/>
              <a:ext cx="6610073" cy="0"/>
            </a:xfrm>
            <a:prstGeom prst="line">
              <a:avLst/>
            </a:prstGeom>
            <a:ln w="172964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1490815"/>
              <a:ext cx="7206831" cy="922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0"/>
                </a:lnSpc>
              </a:pPr>
              <a:r>
                <a:rPr lang="en-US" sz="4050" b="1" err="1">
                  <a:solidFill>
                    <a:srgbClr val="000000"/>
                  </a:solidFill>
                  <a:highlight>
                    <a:srgbClr val="FFDF62"/>
                  </a:highlight>
                  <a:latin typeface="Cooper Hewitt Bold"/>
                  <a:ea typeface="Cooper Hewitt Bold"/>
                  <a:cs typeface="Cooper Hewitt Bold"/>
                  <a:sym typeface="Cooper Hewitt Bold"/>
                </a:rPr>
                <a:t>Versionamento</a:t>
              </a:r>
              <a:endParaRPr lang="en-US" sz="4050" b="1" err="1">
                <a:solidFill>
                  <a:srgbClr val="000000"/>
                </a:solidFill>
                <a:highlight>
                  <a:srgbClr val="FFDF62"/>
                </a:highlight>
                <a:latin typeface="Cooper Hewitt Bold"/>
                <a:ea typeface="Cooper Hewitt Bold"/>
                <a:cs typeface="Cooper Hewitt Bold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12712" y="6433823"/>
            <a:ext cx="15041102" cy="3144799"/>
            <a:chOff x="0" y="0"/>
            <a:chExt cx="20054803" cy="4193065"/>
          </a:xfrm>
        </p:grpSpPr>
        <p:grpSp>
          <p:nvGrpSpPr>
            <p:cNvPr id="33" name="Group 33"/>
            <p:cNvGrpSpPr/>
            <p:nvPr/>
          </p:nvGrpSpPr>
          <p:grpSpPr>
            <a:xfrm>
              <a:off x="12689421" y="0"/>
              <a:ext cx="3603416" cy="4193065"/>
              <a:chOff x="0" y="0"/>
              <a:chExt cx="6985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13344697" y="1015508"/>
              <a:ext cx="2162049" cy="2162049"/>
            </a:xfrm>
            <a:custGeom>
              <a:avLst/>
              <a:gdLst/>
              <a:ahLst/>
              <a:cxnLst/>
              <a:rect l="l" t="t" r="r" b="b"/>
              <a:pathLst>
                <a:path w="2162049" h="2162049">
                  <a:moveTo>
                    <a:pt x="0" y="0"/>
                  </a:moveTo>
                  <a:lnTo>
                    <a:pt x="2162050" y="0"/>
                  </a:lnTo>
                  <a:lnTo>
                    <a:pt x="2162050" y="2162049"/>
                  </a:lnTo>
                  <a:lnTo>
                    <a:pt x="0" y="21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6451387" y="0"/>
              <a:ext cx="3603416" cy="4193065"/>
              <a:chOff x="0" y="0"/>
              <a:chExt cx="6985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17172070" y="1015508"/>
              <a:ext cx="2162049" cy="2162049"/>
            </a:xfrm>
            <a:custGeom>
              <a:avLst/>
              <a:gdLst/>
              <a:ahLst/>
              <a:cxnLst/>
              <a:rect l="l" t="t" r="r" b="b"/>
              <a:pathLst>
                <a:path w="2162049" h="2162049">
                  <a:moveTo>
                    <a:pt x="0" y="0"/>
                  </a:moveTo>
                  <a:lnTo>
                    <a:pt x="2162050" y="0"/>
                  </a:lnTo>
                  <a:lnTo>
                    <a:pt x="2162050" y="2162049"/>
                  </a:lnTo>
                  <a:lnTo>
                    <a:pt x="0" y="216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925654" y="0"/>
              <a:ext cx="3603416" cy="4193065"/>
              <a:chOff x="0" y="0"/>
              <a:chExt cx="6985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34925"/>
                <a:ext cx="698500" cy="638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9285995" y="655166"/>
              <a:ext cx="2882732" cy="2882732"/>
            </a:xfrm>
            <a:custGeom>
              <a:avLst/>
              <a:gdLst/>
              <a:ahLst/>
              <a:cxnLst/>
              <a:rect l="l" t="t" r="r" b="b"/>
              <a:pathLst>
                <a:path w="2882732" h="2882732">
                  <a:moveTo>
                    <a:pt x="0" y="0"/>
                  </a:moveTo>
                  <a:lnTo>
                    <a:pt x="2882733" y="0"/>
                  </a:lnTo>
                  <a:lnTo>
                    <a:pt x="2882733" y="2882733"/>
                  </a:lnTo>
                  <a:lnTo>
                    <a:pt x="0" y="2882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AutoShape 45"/>
            <p:cNvSpPr/>
            <p:nvPr/>
          </p:nvSpPr>
          <p:spPr>
            <a:xfrm flipV="1">
              <a:off x="4210291" y="2096533"/>
              <a:ext cx="4715363" cy="0"/>
            </a:xfrm>
            <a:prstGeom prst="line">
              <a:avLst/>
            </a:prstGeom>
            <a:ln w="172964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1482836"/>
              <a:ext cx="7206831" cy="922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0"/>
                </a:lnSpc>
              </a:pPr>
              <a:r>
                <a:rPr lang="en-US" sz="4050" b="1" dirty="0">
                  <a:solidFill>
                    <a:srgbClr val="000000"/>
                  </a:solidFill>
                  <a:highlight>
                    <a:srgbClr val="FFDF62"/>
                  </a:highlight>
                  <a:latin typeface="Cooper Hewitt Bold"/>
                  <a:ea typeface="Cooper Hewitt Bold"/>
                  <a:cs typeface="Cooper Hewitt Bold"/>
                  <a:sym typeface="Cooper Hewitt Bold"/>
                </a:rPr>
                <a:t>Outros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2893269" y="-3914"/>
            <a:ext cx="12501461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19"/>
              </a:lnSpc>
            </a:pPr>
            <a:r>
              <a:rPr lang="en-US" sz="96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TECNOLOGIAS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95375"/>
            <a:ext cx="18288000" cy="9191625"/>
          </a:xfrm>
          <a:custGeom>
            <a:avLst/>
            <a:gdLst/>
            <a:ahLst/>
            <a:cxnLst/>
            <a:rect l="l" t="t" r="r" b="b"/>
            <a:pathLst>
              <a:path w="18288000" h="9191625">
                <a:moveTo>
                  <a:pt x="0" y="0"/>
                </a:moveTo>
                <a:lnTo>
                  <a:pt x="18288000" y="0"/>
                </a:lnTo>
                <a:lnTo>
                  <a:pt x="18288000" y="9191625"/>
                </a:lnTo>
                <a:lnTo>
                  <a:pt x="0" y="9191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161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93269" y="3523"/>
            <a:ext cx="12501461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40"/>
              </a:lnSpc>
            </a:pPr>
            <a:r>
              <a:rPr lang="en-US" sz="7200" b="1" u="none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DIAGRAMA DE CASO DE USO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95375"/>
            <a:ext cx="18288000" cy="9191625"/>
          </a:xfrm>
          <a:custGeom>
            <a:avLst/>
            <a:gdLst/>
            <a:ahLst/>
            <a:cxnLst/>
            <a:rect l="l" t="t" r="r" b="b"/>
            <a:pathLst>
              <a:path w="18288000" h="9191625">
                <a:moveTo>
                  <a:pt x="0" y="0"/>
                </a:moveTo>
                <a:lnTo>
                  <a:pt x="18288000" y="0"/>
                </a:lnTo>
                <a:lnTo>
                  <a:pt x="18288000" y="9191625"/>
                </a:lnTo>
                <a:lnTo>
                  <a:pt x="0" y="9191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61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93269" y="3523"/>
            <a:ext cx="12501461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40"/>
              </a:lnSpc>
            </a:pPr>
            <a:r>
              <a:rPr lang="en-US" sz="7200" b="1" u="none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DIAGRAMA DE CASO DE USO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67700" y="-7786033"/>
            <a:ext cx="24623401" cy="12929533"/>
            <a:chOff x="0" y="0"/>
            <a:chExt cx="32831201" cy="17239377"/>
          </a:xfrm>
        </p:grpSpPr>
        <p:sp>
          <p:nvSpPr>
            <p:cNvPr id="3" name="Freeform 3"/>
            <p:cNvSpPr/>
            <p:nvPr/>
          </p:nvSpPr>
          <p:spPr>
            <a:xfrm rot="-5400000">
              <a:off x="-235082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6" y="0"/>
                  </a:lnTo>
                  <a:lnTo>
                    <a:pt x="17239376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5400000">
              <a:off x="15826906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7" y="0"/>
                  </a:lnTo>
                  <a:lnTo>
                    <a:pt x="17239377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893269" y="-2949879"/>
            <a:ext cx="12501461" cy="15780790"/>
            <a:chOff x="0" y="0"/>
            <a:chExt cx="3292566" cy="41562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92566" cy="4156257"/>
            </a:xfrm>
            <a:custGeom>
              <a:avLst/>
              <a:gdLst/>
              <a:ahLst/>
              <a:cxnLst/>
              <a:rect l="l" t="t" r="r" b="b"/>
              <a:pathLst>
                <a:path w="3292566" h="4156257">
                  <a:moveTo>
                    <a:pt x="0" y="0"/>
                  </a:moveTo>
                  <a:lnTo>
                    <a:pt x="3292566" y="0"/>
                  </a:lnTo>
                  <a:lnTo>
                    <a:pt x="3292566" y="4156257"/>
                  </a:lnTo>
                  <a:lnTo>
                    <a:pt x="0" y="41562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3292566" cy="4261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893269" y="6556"/>
            <a:ext cx="12501461" cy="10280444"/>
            <a:chOff x="0" y="8741"/>
            <a:chExt cx="16668615" cy="13707259"/>
          </a:xfrm>
        </p:grpSpPr>
        <p:sp>
          <p:nvSpPr>
            <p:cNvPr id="9" name="Freeform 9"/>
            <p:cNvSpPr/>
            <p:nvPr/>
          </p:nvSpPr>
          <p:spPr>
            <a:xfrm>
              <a:off x="674620" y="1460500"/>
              <a:ext cx="15319375" cy="12255500"/>
            </a:xfrm>
            <a:custGeom>
              <a:avLst/>
              <a:gdLst/>
              <a:ahLst/>
              <a:cxnLst/>
              <a:rect l="l" t="t" r="r" b="b"/>
              <a:pathLst>
                <a:path w="15319375" h="12255500">
                  <a:moveTo>
                    <a:pt x="0" y="0"/>
                  </a:moveTo>
                  <a:lnTo>
                    <a:pt x="15319375" y="0"/>
                  </a:lnTo>
                  <a:lnTo>
                    <a:pt x="15319375" y="12255500"/>
                  </a:lnTo>
                  <a:lnTo>
                    <a:pt x="0" y="1225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654" t="-4715" r="-34224" b="-1191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8741"/>
              <a:ext cx="16668615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640"/>
                </a:lnSpc>
              </a:pPr>
              <a:r>
                <a:rPr lang="en-US" sz="7200" b="1">
                  <a:solidFill>
                    <a:srgbClr val="FFDE59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DESIGN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67700" y="-7786033"/>
            <a:ext cx="24623401" cy="12929533"/>
            <a:chOff x="0" y="0"/>
            <a:chExt cx="32831201" cy="17239377"/>
          </a:xfrm>
        </p:grpSpPr>
        <p:sp>
          <p:nvSpPr>
            <p:cNvPr id="3" name="Freeform 3"/>
            <p:cNvSpPr/>
            <p:nvPr/>
          </p:nvSpPr>
          <p:spPr>
            <a:xfrm rot="-5400000">
              <a:off x="-235082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6" y="0"/>
                  </a:lnTo>
                  <a:lnTo>
                    <a:pt x="17239376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5400000">
              <a:off x="15826906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7" y="0"/>
                  </a:lnTo>
                  <a:lnTo>
                    <a:pt x="17239377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893269" y="-2900819"/>
            <a:ext cx="12501461" cy="15780790"/>
            <a:chOff x="0" y="0"/>
            <a:chExt cx="3292566" cy="41562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92566" cy="4156257"/>
            </a:xfrm>
            <a:custGeom>
              <a:avLst/>
              <a:gdLst/>
              <a:ahLst/>
              <a:cxnLst/>
              <a:rect l="l" t="t" r="r" b="b"/>
              <a:pathLst>
                <a:path w="3292566" h="4156257">
                  <a:moveTo>
                    <a:pt x="0" y="0"/>
                  </a:moveTo>
                  <a:lnTo>
                    <a:pt x="3292566" y="0"/>
                  </a:lnTo>
                  <a:lnTo>
                    <a:pt x="3292566" y="4156257"/>
                  </a:lnTo>
                  <a:lnTo>
                    <a:pt x="0" y="41562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3292566" cy="4261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893269" y="6556"/>
            <a:ext cx="12501461" cy="10280444"/>
            <a:chOff x="0" y="8741"/>
            <a:chExt cx="16668615" cy="13707259"/>
          </a:xfrm>
        </p:grpSpPr>
        <p:sp>
          <p:nvSpPr>
            <p:cNvPr id="9" name="Freeform 9"/>
            <p:cNvSpPr/>
            <p:nvPr/>
          </p:nvSpPr>
          <p:spPr>
            <a:xfrm>
              <a:off x="674620" y="1460500"/>
              <a:ext cx="15319375" cy="12255500"/>
            </a:xfrm>
            <a:custGeom>
              <a:avLst/>
              <a:gdLst/>
              <a:ahLst/>
              <a:cxnLst/>
              <a:rect l="l" t="t" r="r" b="b"/>
              <a:pathLst>
                <a:path w="15319375" h="12255500">
                  <a:moveTo>
                    <a:pt x="0" y="0"/>
                  </a:moveTo>
                  <a:lnTo>
                    <a:pt x="15319375" y="0"/>
                  </a:lnTo>
                  <a:lnTo>
                    <a:pt x="15319375" y="12255500"/>
                  </a:lnTo>
                  <a:lnTo>
                    <a:pt x="0" y="1225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428" t="-849" r="-31831" b="-13239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8741"/>
              <a:ext cx="16668615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640"/>
                </a:lnSpc>
              </a:pPr>
              <a:r>
                <a:rPr lang="en-US" sz="7200" b="1">
                  <a:solidFill>
                    <a:srgbClr val="FFDE59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DESIGN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67700" y="-7786033"/>
            <a:ext cx="24623401" cy="12929533"/>
            <a:chOff x="0" y="0"/>
            <a:chExt cx="32831201" cy="17239377"/>
          </a:xfrm>
        </p:grpSpPr>
        <p:sp>
          <p:nvSpPr>
            <p:cNvPr id="3" name="Freeform 3"/>
            <p:cNvSpPr/>
            <p:nvPr/>
          </p:nvSpPr>
          <p:spPr>
            <a:xfrm rot="-5400000">
              <a:off x="-235082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6" y="0"/>
                  </a:lnTo>
                  <a:lnTo>
                    <a:pt x="17239376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5400000">
              <a:off x="15826906" y="235082"/>
              <a:ext cx="17239377" cy="16769212"/>
            </a:xfrm>
            <a:custGeom>
              <a:avLst/>
              <a:gdLst/>
              <a:ahLst/>
              <a:cxnLst/>
              <a:rect l="l" t="t" r="r" b="b"/>
              <a:pathLst>
                <a:path w="17239377" h="16769212">
                  <a:moveTo>
                    <a:pt x="0" y="0"/>
                  </a:moveTo>
                  <a:lnTo>
                    <a:pt x="17239377" y="0"/>
                  </a:lnTo>
                  <a:lnTo>
                    <a:pt x="17239377" y="16769212"/>
                  </a:lnTo>
                  <a:lnTo>
                    <a:pt x="0" y="16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893269" y="-2853847"/>
            <a:ext cx="12501461" cy="15780790"/>
            <a:chOff x="0" y="0"/>
            <a:chExt cx="3292566" cy="41562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92566" cy="4156257"/>
            </a:xfrm>
            <a:custGeom>
              <a:avLst/>
              <a:gdLst/>
              <a:ahLst/>
              <a:cxnLst/>
              <a:rect l="l" t="t" r="r" b="b"/>
              <a:pathLst>
                <a:path w="3292566" h="4156257">
                  <a:moveTo>
                    <a:pt x="0" y="0"/>
                  </a:moveTo>
                  <a:lnTo>
                    <a:pt x="3292566" y="0"/>
                  </a:lnTo>
                  <a:lnTo>
                    <a:pt x="3292566" y="4156257"/>
                  </a:lnTo>
                  <a:lnTo>
                    <a:pt x="0" y="41562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3292566" cy="4261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893269" y="6556"/>
            <a:ext cx="12501461" cy="10280444"/>
            <a:chOff x="0" y="8741"/>
            <a:chExt cx="16668615" cy="13707259"/>
          </a:xfrm>
        </p:grpSpPr>
        <p:sp>
          <p:nvSpPr>
            <p:cNvPr id="9" name="Freeform 9"/>
            <p:cNvSpPr/>
            <p:nvPr/>
          </p:nvSpPr>
          <p:spPr>
            <a:xfrm>
              <a:off x="674620" y="1460500"/>
              <a:ext cx="15319375" cy="12255500"/>
            </a:xfrm>
            <a:custGeom>
              <a:avLst/>
              <a:gdLst/>
              <a:ahLst/>
              <a:cxnLst/>
              <a:rect l="l" t="t" r="r" b="b"/>
              <a:pathLst>
                <a:path w="15319375" h="12255500">
                  <a:moveTo>
                    <a:pt x="0" y="0"/>
                  </a:moveTo>
                  <a:lnTo>
                    <a:pt x="15319375" y="0"/>
                  </a:lnTo>
                  <a:lnTo>
                    <a:pt x="15319375" y="12255500"/>
                  </a:lnTo>
                  <a:lnTo>
                    <a:pt x="0" y="1225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176" t="-5658" r="-31948" b="-833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8741"/>
              <a:ext cx="16668615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640"/>
                </a:lnSpc>
              </a:pPr>
              <a:r>
                <a:rPr lang="en-US" sz="7200" b="1">
                  <a:solidFill>
                    <a:srgbClr val="FFDE59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DESIGN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1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6863" y="-606659"/>
            <a:ext cx="20604286" cy="11810677"/>
            <a:chOff x="0" y="0"/>
            <a:chExt cx="4791768" cy="27467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91768" cy="2746711"/>
            </a:xfrm>
            <a:custGeom>
              <a:avLst/>
              <a:gdLst/>
              <a:ahLst/>
              <a:cxnLst/>
              <a:rect l="l" t="t" r="r" b="b"/>
              <a:pathLst>
                <a:path w="4791768" h="2746711">
                  <a:moveTo>
                    <a:pt x="0" y="0"/>
                  </a:moveTo>
                  <a:lnTo>
                    <a:pt x="4791768" y="0"/>
                  </a:lnTo>
                  <a:lnTo>
                    <a:pt x="4791768" y="2746711"/>
                  </a:lnTo>
                  <a:lnTo>
                    <a:pt x="0" y="274671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/>
          <p:cNvSpPr/>
          <p:nvPr/>
        </p:nvSpPr>
        <p:spPr>
          <a:xfrm rot="1972526" flipH="1">
            <a:off x="-3648710" y="-2995396"/>
            <a:ext cx="10434715" cy="17837120"/>
          </a:xfrm>
          <a:custGeom>
            <a:avLst/>
            <a:gdLst/>
            <a:ahLst/>
            <a:cxnLst/>
            <a:rect l="l" t="t" r="r" b="b"/>
            <a:pathLst>
              <a:path w="10434715" h="17837120">
                <a:moveTo>
                  <a:pt x="10434715" y="0"/>
                </a:moveTo>
                <a:lnTo>
                  <a:pt x="0" y="0"/>
                </a:lnTo>
                <a:lnTo>
                  <a:pt x="0" y="17837120"/>
                </a:lnTo>
                <a:lnTo>
                  <a:pt x="10434715" y="17837120"/>
                </a:lnTo>
                <a:lnTo>
                  <a:pt x="104347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14837" y="414272"/>
            <a:ext cx="12719095" cy="2867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237"/>
              </a:lnSpc>
              <a:spcBef>
                <a:spcPct val="0"/>
              </a:spcBef>
            </a:pPr>
            <a:r>
              <a:rPr lang="en-US" sz="16598" b="1" u="none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CONCLUSÃO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32576" y="3557892"/>
            <a:ext cx="11294260" cy="5917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1726"/>
              </a:lnSpc>
            </a:pPr>
            <a:r>
              <a:rPr lang="en-US" sz="8200" b="1">
                <a:solidFill>
                  <a:srgbClr val="FFFFFF"/>
                </a:solidFill>
                <a:latin typeface="Cooper Hewitt"/>
                <a:ea typeface="Cooper Hewitt"/>
                <a:cs typeface="Cooper Hewitt"/>
                <a:sym typeface="Cooper Hewitt"/>
              </a:rPr>
              <a:t>Beelder é uma solução prática e acessível que resolve uma dor real do primeiro emprego.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08198" y="328612"/>
            <a:ext cx="8471604" cy="1749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32"/>
              </a:lnSpc>
              <a:spcBef>
                <a:spcPct val="0"/>
              </a:spcBef>
            </a:pPr>
            <a:r>
              <a:rPr lang="en-US" sz="104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REFERÊNCIAS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0038" y="1799766"/>
            <a:ext cx="17687925" cy="7786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ANTUNES, Ricardo. O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privilégio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da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servidão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o novo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proletariado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de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serviços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na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era digital [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recurso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eletrônico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]. São Paulo: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Boitempo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, 2018.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Disponível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</a:t>
            </a:r>
            <a:r>
              <a:rPr lang="en-US" sz="3200" dirty="0">
                <a:solidFill>
                  <a:schemeClr val="bg1"/>
                </a:solidFill>
                <a:ea typeface="+mn-lt"/>
                <a:cs typeface="+mn-lt"/>
                <a:sym typeface="Cooper Hewitt"/>
              </a:rPr>
              <a:t>https://blogdaboitempo.com.br/wp-content/uploads/2022/05/privilegioservidao_antunes-1.pdf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Acesso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02 out. 2025.</a:t>
            </a:r>
            <a:endParaRPr lang="pt-BR" sz="3200">
              <a:solidFill>
                <a:schemeClr val="bg1"/>
              </a:solidFill>
              <a:latin typeface="Cooper Hewitt"/>
              <a:ea typeface="Cooper Hewitt"/>
            </a:endParaRPr>
          </a:p>
          <a:p>
            <a:pPr algn="just"/>
            <a:endParaRPr lang="en-US" sz="3200" dirty="0">
              <a:solidFill>
                <a:schemeClr val="bg1"/>
              </a:solidFill>
              <a:latin typeface="Cooper Hewitt"/>
              <a:ea typeface="Cooper Hewitt"/>
            </a:endParaRPr>
          </a:p>
          <a:p>
            <a:pPr algn="just"/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BRAGA, Adriana de Fátima; CRUZ, Maria da Conceição.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Juventude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e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trabalho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desafios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da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inserção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no mercado de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trabalho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. Revista Brasileira de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Orientação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Profissional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, v. 20, n. 1, 2019.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Disponível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</a:t>
            </a:r>
            <a:r>
              <a:rPr lang="en-US" sz="3200" dirty="0">
                <a:solidFill>
                  <a:schemeClr val="bg1"/>
                </a:solidFill>
                <a:ea typeface="+mn-lt"/>
                <a:cs typeface="+mn-lt"/>
                <a:sym typeface="Cooper Hewitt"/>
              </a:rPr>
              <a:t>https://www.scielo.br/j/rbop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Acesso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01 out. 2025. </a:t>
            </a:r>
            <a:endParaRPr lang="pt-BR" sz="3200">
              <a:solidFill>
                <a:schemeClr val="bg1"/>
              </a:solidFill>
              <a:latin typeface="Cooper Hewitt"/>
              <a:ea typeface="Cooper Hewitt"/>
            </a:endParaRPr>
          </a:p>
          <a:p>
            <a:pPr algn="just"/>
            <a:endParaRPr lang="en-US" sz="3200" dirty="0">
              <a:solidFill>
                <a:schemeClr val="bg1"/>
              </a:solidFill>
              <a:latin typeface="Cooper Hewitt"/>
              <a:ea typeface="Cooper Hewitt"/>
            </a:endParaRPr>
          </a:p>
          <a:p>
            <a:pPr algn="just"/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FEIJÓ, Janaína; PERUCHETTI, Paulo. Jovens no mercado de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trabalho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. Blog do IBRE.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Fundação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Getúlio Vargas, 2025.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Disponível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</a:t>
            </a:r>
            <a:r>
              <a:rPr lang="en-US" sz="3200" dirty="0">
                <a:solidFill>
                  <a:schemeClr val="bg1"/>
                </a:solidFill>
                <a:ea typeface="+mn-lt"/>
                <a:cs typeface="+mn-lt"/>
                <a:sym typeface="Cooper Hewitt"/>
              </a:rPr>
              <a:t>https://blogdoibre.fgv.br/posts/</a:t>
            </a:r>
            <a:r>
              <a:rPr lang="en-US" sz="3200" dirty="0">
                <a:solidFill>
                  <a:schemeClr val="bg1"/>
                </a:solidFill>
                <a:latin typeface="Calibri"/>
                <a:ea typeface="+mn-lt"/>
                <a:cs typeface="+mn-lt"/>
                <a:sym typeface="Cooper Hewitt"/>
              </a:rPr>
              <a:t>jovens-no-mercado-de-trabalho.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Acesso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08 set. 2025. </a:t>
            </a:r>
            <a:endParaRPr lang="en-US" sz="3200" dirty="0">
              <a:solidFill>
                <a:schemeClr val="bg1"/>
              </a:solidFill>
              <a:latin typeface="Cooper Hewitt"/>
              <a:ea typeface="Cooper Hewitt"/>
            </a:endParaRPr>
          </a:p>
          <a:p>
            <a:pPr algn="just"/>
            <a:endParaRPr lang="en-US" sz="3200" dirty="0">
              <a:solidFill>
                <a:schemeClr val="bg1"/>
              </a:solidFill>
              <a:latin typeface="Cooper Hewitt"/>
              <a:ea typeface="Cooper Hewitt"/>
            </a:endParaRPr>
          </a:p>
          <a:p>
            <a:pPr algn="just">
              <a:lnSpc>
                <a:spcPts val="5049"/>
              </a:lnSpc>
            </a:pP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FLORENCE. </a:t>
            </a:r>
            <a:r>
              <a:rPr lang="en-US" sz="3200" u="none" dirty="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Conheça</a:t>
            </a: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a </a:t>
            </a:r>
            <a:r>
              <a:rPr lang="en-US" sz="3200" u="none" dirty="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importância</a:t>
            </a: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e </a:t>
            </a:r>
            <a:r>
              <a:rPr lang="en-US" sz="3200" u="none" dirty="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os</a:t>
            </a: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u="none" dirty="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desafios</a:t>
            </a: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dos </a:t>
            </a:r>
            <a:r>
              <a:rPr lang="en-US" sz="3200" u="none" dirty="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jovens</a:t>
            </a: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no mercado de </a:t>
            </a:r>
            <a:r>
              <a:rPr lang="en-US" sz="3200" u="none" dirty="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trabalho</a:t>
            </a: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. Blog do Centro Universitário Florence, 2025. </a:t>
            </a:r>
            <a:r>
              <a:rPr lang="en-US" sz="3200" u="none" dirty="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Disponível</a:t>
            </a: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u="none" dirty="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https://www.florence.edu.br/blog/jovens-no-mercado-de-trabalho/</a:t>
            </a: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. </a:t>
            </a:r>
            <a:r>
              <a:rPr lang="en-US" sz="3200" u="none" dirty="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Acesso</a:t>
            </a: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u="none" dirty="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u="none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08 set. 2025.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endParaRPr lang="en-US" sz="3200" dirty="0">
              <a:solidFill>
                <a:schemeClr val="bg1"/>
              </a:solidFill>
              <a:latin typeface="Cooper Hewitt"/>
              <a:ea typeface="Cooper Hewit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08198" y="300038"/>
            <a:ext cx="8471604" cy="1749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32"/>
              </a:lnSpc>
              <a:spcBef>
                <a:spcPct val="0"/>
              </a:spcBef>
            </a:pPr>
            <a:r>
              <a:rPr lang="en-US" sz="10400" b="1">
                <a:solidFill>
                  <a:srgbClr val="FFDE59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REFERÊNCIAS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2887" y="1777667"/>
            <a:ext cx="17816513" cy="6732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OLIVEIRA, Fábio de; SILVA, Carla.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Empregabilidade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e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competências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no mercado de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trabalho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atual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. Revista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Gestão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&amp;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Tecnologia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, v. 18, n. 2, 2018.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Disponível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</a:t>
            </a:r>
            <a:r>
              <a:rPr lang="en-US" sz="3200" dirty="0">
                <a:solidFill>
                  <a:schemeClr val="bg1"/>
                </a:solidFill>
                <a:ea typeface="+mn-lt"/>
                <a:cs typeface="+mn-lt"/>
                <a:sym typeface="Cooper Hewitt"/>
              </a:rPr>
              <a:t>https://revistagt.fpl.edu.br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Acesso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01 out. 2025. </a:t>
            </a:r>
            <a:endParaRPr lang="pt-BR" sz="3200">
              <a:solidFill>
                <a:schemeClr val="bg1"/>
              </a:solidFill>
              <a:latin typeface="Cooper Hewitt"/>
              <a:ea typeface="Cooper Hewitt"/>
            </a:endParaRPr>
          </a:p>
          <a:p>
            <a:pPr algn="just"/>
            <a:endParaRPr lang="en-US" sz="3200" dirty="0">
              <a:solidFill>
                <a:schemeClr val="bg1"/>
              </a:solidFill>
              <a:latin typeface="Cooper Hewitt"/>
              <a:ea typeface="Cooper Hewitt"/>
            </a:endParaRPr>
          </a:p>
          <a:p>
            <a:pPr algn="just"/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SACRISTÁN, José Gimeno (org.).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Saberes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e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incertezas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sobre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o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currículo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[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recurso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eletrônico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]. [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S.l.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s.n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.], 2013.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Disponível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</a:t>
            </a:r>
            <a:r>
              <a:rPr lang="en-US" sz="3200" dirty="0">
                <a:solidFill>
                  <a:schemeClr val="bg1"/>
                </a:solidFill>
                <a:ea typeface="+mn-lt"/>
                <a:cs typeface="+mn-lt"/>
                <a:sym typeface="Cooper Hewitt"/>
              </a:rPr>
              <a:t>https://konektacommerce.nyc3.cdn.digitaloceanspaces.com/TEXT_SAMPLE_CONTENT/saberes-e-incertezas-sobre-o-curriculo-78773-1.pdf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Acesso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29 set. 2025. </a:t>
            </a:r>
            <a:endParaRPr lang="en-US" sz="3200" dirty="0">
              <a:solidFill>
                <a:schemeClr val="bg1"/>
              </a:solidFill>
              <a:latin typeface="Cooper Hewitt"/>
              <a:ea typeface="Cooper Hewitt"/>
            </a:endParaRPr>
          </a:p>
          <a:p>
            <a:pPr algn="just"/>
            <a:endParaRPr lang="en-US" sz="3200" dirty="0">
              <a:solidFill>
                <a:schemeClr val="bg1"/>
              </a:solidFill>
              <a:latin typeface="Cooper Hewitt"/>
              <a:ea typeface="Cooper Hewitt"/>
            </a:endParaRPr>
          </a:p>
          <a:p>
            <a:pPr algn="just">
              <a:lnSpc>
                <a:spcPts val="6171"/>
              </a:lnSpc>
            </a:pP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SILVA, Juliana Pereira da. O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papel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das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tecnologias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digitais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na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educação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e no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mundo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do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trabalho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Educação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&amp;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Sociedade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, Campinas, v. 42, 2021.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Disponível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https://www.scielo.br/j/es.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Acesso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em</a:t>
            </a:r>
            <a:r>
              <a:rPr lang="en-US" sz="3200" dirty="0">
                <a:solidFill>
                  <a:schemeClr val="bg1"/>
                </a:solidFill>
                <a:latin typeface="Cooper Hewitt"/>
                <a:ea typeface="+mn-lt"/>
                <a:cs typeface="+mn-lt"/>
                <a:sym typeface="Cooper Hewitt"/>
              </a:rPr>
              <a:t>: 01 out. 2025. </a:t>
            </a:r>
            <a:endParaRPr lang="en-US" sz="3200" dirty="0">
              <a:solidFill>
                <a:schemeClr val="bg1"/>
              </a:solidFill>
              <a:latin typeface="Cooper Hewitt"/>
              <a:ea typeface="Cooper Hewi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BEELDER SLIDESHOW</dc:title>
  <cp:revision>124</cp:revision>
  <dcterms:created xsi:type="dcterms:W3CDTF">2006-08-16T00:00:00Z</dcterms:created>
  <dcterms:modified xsi:type="dcterms:W3CDTF">2025-11-24T04:20:19Z</dcterms:modified>
  <dc:identifier>DAGzuF4ZoEQ</dc:identifier>
</cp:coreProperties>
</file>